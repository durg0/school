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8" r:id="rId5"/>
    <p:sldId id="27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88825" cy="6858000"/>
  <p:notesSz cx="6858000" cy="9144000"/>
  <p:defaultTextStyle>
    <a:defPPr rtl="0">
      <a:defRPr lang="nl-nl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8" autoAdjust="0"/>
    <p:restoredTop sz="88184" autoAdjust="0"/>
  </p:normalViewPr>
  <p:slideViewPr>
    <p:cSldViewPr>
      <p:cViewPr varScale="1">
        <p:scale>
          <a:sx n="73" d="100"/>
          <a:sy n="73" d="100"/>
        </p:scale>
        <p:origin x="931" y="6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9" d="100"/>
          <a:sy n="69" d="100"/>
        </p:scale>
        <p:origin x="352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CF62EBC8-870A-4832-A3B8-6310D7817D0D}" type="datetime1">
              <a:rPr lang="nl-NL" smtClean="0"/>
              <a:pPr algn="r" rtl="0"/>
              <a:t>15-9-2025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nl-NL" smtClean="0"/>
              <a:pPr algn="r" rtl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C2C6F946-26EF-4139-A4CC-50BE60316263}" type="datetime1">
              <a:rPr lang="nl-NL" smtClean="0"/>
              <a:pPr/>
              <a:t>15-9-2025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nl-NL" dirty="0"/>
              <a:t>Klik om de tekststijlen van het model te bewerken</a:t>
            </a:r>
          </a:p>
          <a:p>
            <a:pPr lvl="1" rtl="0"/>
            <a:r>
              <a:rPr lang="nl-NL" dirty="0"/>
              <a:t>Tweede niveau</a:t>
            </a:r>
          </a:p>
          <a:p>
            <a:pPr lvl="2" rtl="0"/>
            <a:r>
              <a:rPr lang="nl-NL" dirty="0"/>
              <a:t>Derde niveau</a:t>
            </a:r>
          </a:p>
          <a:p>
            <a:pPr lvl="3" rtl="0"/>
            <a:r>
              <a:rPr lang="nl-NL" dirty="0"/>
              <a:t>Vierde niveau</a:t>
            </a:r>
          </a:p>
          <a:p>
            <a:pPr lvl="4" rtl="0"/>
            <a:r>
              <a:rPr lang="nl-NL" dirty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3EBA5BD7-F043-4D1B-AA17-CD412FC534DE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Ik heb deze thema gekozen omdat dit goed bij het onderwerp past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C9FB80-D2CB-4D3A-93EA-619E3BED9EDF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9610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en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Rechte verbindingslijn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Rechte verbindingslijn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Rechte verbindingslijn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jnen onderaan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Vrije v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nl-NL" dirty="0"/>
            </a:p>
          </p:txBody>
        </p:sp>
        <p:sp>
          <p:nvSpPr>
            <p:cNvPr id="10" name="Vrije v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nl-NL" dirty="0"/>
            </a:p>
          </p:txBody>
        </p:sp>
        <p:sp>
          <p:nvSpPr>
            <p:cNvPr id="11" name="Vrije v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nl-NL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Subtitel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nl-NL"/>
              <a:t>Klikken om de ondertitelstijl van het model te bewerken</a:t>
            </a:r>
            <a:endParaRPr lang="nl-NL" dirty="0"/>
          </a:p>
        </p:txBody>
      </p:sp>
      <p:sp>
        <p:nvSpPr>
          <p:cNvPr id="22" name="Tijdelijke aanduiding voor datum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1533030-B54D-4E1D-9DF2-101E18EB0C25}" type="datetime1">
              <a:rPr lang="nl-NL" smtClean="0"/>
              <a:pPr/>
              <a:t>15-9-2025</a:t>
            </a:fld>
            <a:endParaRPr lang="nl-NL" dirty="0"/>
          </a:p>
        </p:txBody>
      </p:sp>
      <p:sp>
        <p:nvSpPr>
          <p:cNvPr id="23" name="Tijdelijke aanduiding voor voettekst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nl-NL" dirty="0"/>
          </a:p>
        </p:txBody>
      </p:sp>
      <p:sp>
        <p:nvSpPr>
          <p:cNvPr id="24" name="Tijdelijke aanduiding voor dianummer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nl-NL"/>
              <a:t>Klikken om de tekststijl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13F02B2-1431-4AD3-9831-8FA0B85B856B}" type="datetime1">
              <a:rPr lang="nl-NL" smtClean="0"/>
              <a:pPr/>
              <a:t>15-9-2025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en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Rechte verbindingslijn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Rechte verbindingslijn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Rechte verbindingslijn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5346FBF-6E06-4668-8761-6C388A07E27A}" type="datetime1">
              <a:rPr lang="nl-NL" smtClean="0"/>
              <a:pPr/>
              <a:t>15-9-2025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nl-NL"/>
              <a:t>Klikken om de tekststijl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nl-NL"/>
              <a:t>Klikken om de tekststijl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3312813-50D9-4C1C-A1EB-966B7EDA57A6}" type="datetime1">
              <a:rPr lang="nl-NL" smtClean="0"/>
              <a:pPr/>
              <a:t>15-9-2025</a:t>
            </a:fld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nl-NL"/>
              <a:t>Klikken om de tekststijl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nl-NL"/>
              <a:t>Klikken om de tekststijl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37F2428-0A3C-4053-826C-DB44A180E1D2}" type="datetime1">
              <a:rPr lang="nl-NL" smtClean="0"/>
              <a:pPr/>
              <a:t>15-9-2025</a:t>
            </a:fld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5B74CA1-D974-43BD-9F5A-D3B3C41D8809}" type="datetime1">
              <a:rPr lang="nl-NL" smtClean="0"/>
              <a:pPr/>
              <a:t>15-9-2025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E16C345-0E0A-4756-8AB9-DB73A91B5F7C}" type="datetime1">
              <a:rPr lang="nl-NL" smtClean="0"/>
              <a:pPr/>
              <a:t>15-9-2025</a:t>
            </a:fld>
            <a:endParaRPr lang="nl-NL" dirty="0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nl-NL"/>
              <a:t>Klikken om de tekststijl van het model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nl-NL"/>
              <a:t>Klikken om de tekststijl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6782752-B68B-49C5-85CB-2680C737278B}" type="datetime1">
              <a:rPr lang="nl-NL" smtClean="0"/>
              <a:pPr/>
              <a:t>15-9-2025</a:t>
            </a:fld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nl-NL"/>
              <a:t>Klikken om de tekststijl van het model te bewerken</a:t>
            </a:r>
          </a:p>
        </p:txBody>
      </p:sp>
      <p:sp>
        <p:nvSpPr>
          <p:cNvPr id="3" name="Tijdelijke aanduiding voor afbeelding 2" descr="Een lege tijdelijke aanduiding om een afbeelding toe te voegen. Klik op de tijdelijke aanduiding en selecteer de afbeelding die u wilt toevoegen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8C3F3F2-508D-4C33-A172-A2C39F7A419D}" type="datetime1">
              <a:rPr lang="nl-NL" smtClean="0"/>
              <a:pPr/>
              <a:t>15-9-2025</a:t>
            </a:fld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nl-NL"/>
              <a:t>Klikken om de tekststijl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402BEE1-B3B4-4AD9-9C4A-364FF0A0EAD7}" type="datetime1">
              <a:rPr lang="nl-NL" smtClean="0"/>
              <a:pPr/>
              <a:t>15-9-2025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nl-NL"/>
              <a:t>Klikken om de tekststijl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97458A3-3D63-4469-BA76-1CBC46D41863}" type="datetime1">
              <a:rPr lang="nl-NL" smtClean="0"/>
              <a:pPr/>
              <a:t>15-9-2025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jnen link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Vrije v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nl-NL" dirty="0"/>
            </a:p>
          </p:txBody>
        </p:sp>
        <p:sp>
          <p:nvSpPr>
            <p:cNvPr id="11" name="Vrije v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nl-NL" dirty="0"/>
            </a:p>
          </p:txBody>
        </p:sp>
        <p:sp>
          <p:nvSpPr>
            <p:cNvPr id="14" name="Vrije v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nl-NL" dirty="0"/>
            </a:p>
          </p:txBody>
        </p:sp>
      </p:grp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nl-NL" dirty="0"/>
              <a:t>Klik om de titelstijl van het model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nl-NL" dirty="0"/>
              <a:t>Tekststijlen van het model bewerken</a:t>
            </a:r>
          </a:p>
          <a:p>
            <a:pPr lvl="1" rtl="0"/>
            <a:r>
              <a:rPr lang="nl-NL" dirty="0"/>
              <a:t>Tweede niveau</a:t>
            </a:r>
          </a:p>
          <a:p>
            <a:pPr lvl="2" rtl="0"/>
            <a:r>
              <a:rPr lang="nl-NL" dirty="0"/>
              <a:t>Derde niveau</a:t>
            </a:r>
          </a:p>
          <a:p>
            <a:pPr lvl="3" rtl="0"/>
            <a:r>
              <a:rPr lang="nl-NL" dirty="0"/>
              <a:t>Vierde niveau</a:t>
            </a:r>
          </a:p>
          <a:p>
            <a:pPr lvl="4" rtl="0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15B82-ED5E-4D1F-93F8-A83EE8830D9D}" type="datetime1">
              <a:rPr lang="nl-NL" smtClean="0"/>
              <a:pPr/>
              <a:t>15-9-2025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Cybersecurity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Wat je moet weten om jezelf en organisaties te beschermen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096557-522A-2DC7-0795-07192C037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Verschil Thema &amp; Sjabloon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AA254D0-DD34-C76A-A824-38AD1E149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0599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 is Cybersecurity?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Bescherming van systemen, netwerken en data tegen digitale aanvallen.</a:t>
            </a:r>
          </a:p>
          <a:p>
            <a:r>
              <a:t>Voorkomt ongeautoriseerde toegang, dataverlies en verstoring.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Veelvoorkomende Cyberaanvallen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Malware: virussen, worms, ransomware, spyware.</a:t>
            </a:r>
          </a:p>
          <a:p>
            <a:r>
              <a:t>DoS/DDoS: overbelasting van systemen.</a:t>
            </a:r>
          </a:p>
          <a:p>
            <a:r>
              <a:t>SQL-injectie en exploits.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Phishing &amp; Varianten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Phishing: nep-berichten om gevoelige data te stelen.</a:t>
            </a:r>
          </a:p>
          <a:p>
            <a:r>
              <a:t>Spear phishing: gericht op specifieke personen.</a:t>
            </a:r>
          </a:p>
          <a:p>
            <a:r>
              <a:t>Whaling: gericht op topmanagement.</a:t>
            </a:r>
          </a:p>
          <a:p>
            <a:r>
              <a:t>Vishing en smishing (spraak/sms).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Misbruik maken van menselijke zwaktes.</a:t>
            </a:r>
          </a:p>
          <a:p>
            <a:r>
              <a:t>Voorbeelden: pretexting, baiting, impersonatie.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Wachtwoordbeleid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Sterke wachtwoorden: lengte en variatie in tekens.</a:t>
            </a:r>
          </a:p>
          <a:p>
            <a:r>
              <a:t>Gebruik unieke wachtwoorden per dienst.</a:t>
            </a:r>
          </a:p>
          <a:p>
            <a:r>
              <a:t>Extra beveiliging: multi-factor authenticatie (MFA).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Preventie en Goede Gewoonten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Herken phishing e-mails: controleer afzender en links.</a:t>
            </a:r>
          </a:p>
          <a:p>
            <a:r>
              <a:t>Wees voorzichtig met informatie delen op sociale media.</a:t>
            </a:r>
          </a:p>
          <a:p>
            <a:r>
              <a:t>Houd software up-to-date.</a:t>
            </a:r>
          </a:p>
          <a:p>
            <a:r>
              <a:t>Gebruik antivirus en firewalls.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van Cyberaanvallen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Financiële schade en herstelkosten.</a:t>
            </a:r>
          </a:p>
          <a:p>
            <a:r>
              <a:t>Imagoschade en verlies van vertrouwen.</a:t>
            </a:r>
          </a:p>
          <a:p>
            <a:r>
              <a:t>Verlies van vertrouwelijke data.</a:t>
            </a:r>
          </a:p>
          <a:p>
            <a:r>
              <a:t>Mogelijke juridische gevolgen.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Praktijkvoorbeeld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Medewerker ontvangt e-mail: 'Spoed: controleer je beveiliging'.</a:t>
            </a:r>
          </a:p>
          <a:p>
            <a:r>
              <a:t>Klikt op link naar nepsite → inloggegevens gestolen.</a:t>
            </a:r>
          </a:p>
          <a:p>
            <a:r>
              <a:t>Gevolg: data-inbreuk.</a:t>
            </a:r>
          </a:p>
          <a:p>
            <a:r>
              <a:t>Voorkomen door training, MFA en alertheid.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Technologieën en Hulpmiddelen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Multi-factor authenticatie (MFA).</a:t>
            </a:r>
          </a:p>
          <a:p>
            <a:r>
              <a:t>Wachtwoordmanagers.</a:t>
            </a:r>
          </a:p>
          <a:p>
            <a:r>
              <a:t>Beveiligingssoftware: antivirus en firewall.</a:t>
            </a:r>
          </a:p>
          <a:p>
            <a:r>
              <a:t>Monitoring/detectie (SIEM systemen).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 van de Mens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Bewustzijn en training zijn cruciaal.</a:t>
            </a:r>
          </a:p>
          <a:p>
            <a:r>
              <a:t>Menselijke fouten vaak oorzaak van aanvallen.</a:t>
            </a:r>
          </a:p>
          <a:p>
            <a:r>
              <a:t>Bedrijven moeten beleid en oefeningen hebben.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Samenvatting &amp; Aanbevelingen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Cyberaanvallen zijn veelzijdig en vaak mensgericht.</a:t>
            </a:r>
          </a:p>
          <a:p>
            <a:r>
              <a:t>Sterke wachtwoorden en MFA zijn essentieel.</a:t>
            </a:r>
          </a:p>
          <a:p>
            <a:r>
              <a:t>Training en bewustzijn zijn sleutel tot beveiliging.</a:t>
            </a:r>
          </a:p>
          <a:p>
            <a:r>
              <a:t>Wees altijd kritisch bij e-mails en verzoeken.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nisch (16:9)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59_TF02787990_TF02787990" id="{7C772315-DFAB-4FC9-9757-7947578B2FEF}" vid="{6C2B28D3-8DAE-4C52-BEBA-EA29833A87AE}"/>
    </a:ext>
  </a:extLst>
</a:theme>
</file>

<file path=ppt/theme/theme2.xml><?xml version="1.0" encoding="utf-8"?>
<a:theme xmlns:a="http://schemas.openxmlformats.org/drawingml/2006/main" name="Office-thema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hema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Drievoudige circuitbaanpresentatie (breedbeeld)</Template>
  <TotalTime>22</TotalTime>
  <Words>315</Words>
  <Application>Microsoft Office PowerPoint</Application>
  <PresentationFormat>Aangepast</PresentationFormat>
  <Paragraphs>53</Paragraphs>
  <Slides>13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6" baseType="lpstr">
      <vt:lpstr>Arial</vt:lpstr>
      <vt:lpstr>Calibri</vt:lpstr>
      <vt:lpstr>Technisch (16:9)</vt:lpstr>
      <vt:lpstr>Cybersecurity</vt:lpstr>
      <vt:lpstr>Verschil Thema &amp; Sjabloon</vt:lpstr>
      <vt:lpstr>Wat is Cybersecurity?</vt:lpstr>
      <vt:lpstr>Veelvoorkomende Cyberaanvallen</vt:lpstr>
      <vt:lpstr>Phishing &amp; Varianten</vt:lpstr>
      <vt:lpstr>Social Engineering</vt:lpstr>
      <vt:lpstr>Wachtwoordbeleid</vt:lpstr>
      <vt:lpstr>Preventie en Goede Gewoonten</vt:lpstr>
      <vt:lpstr>Impact van Cyberaanvallen</vt:lpstr>
      <vt:lpstr>Praktijkvoorbeeld</vt:lpstr>
      <vt:lpstr>Technologieën en Hulpmiddelen</vt:lpstr>
      <vt:lpstr>Rol van de Mens</vt:lpstr>
      <vt:lpstr>Samenvatting &amp; Aanbevelingen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Spierings, S.J. (Sytze)</dc:creator>
  <cp:lastModifiedBy>Spierings, S.J. (Sytze)</cp:lastModifiedBy>
  <cp:revision>1</cp:revision>
  <dcterms:created xsi:type="dcterms:W3CDTF">2025-09-15T10:32:57Z</dcterms:created>
  <dcterms:modified xsi:type="dcterms:W3CDTF">2025-09-15T10:55:46Z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